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71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Attention 加速器 IP 设计与验证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95959"/>
                </a:solidFill>
                <a:latin typeface="微软雅黑"/>
                <a:ea typeface="微软雅黑"/>
              </a:rPr>
              <a:t>数字组招生考核 · A 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叶梓龙   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任务与规格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 目标：用 Verilog RTL 设计并验证一个 Attention 加速器 IP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 规模：Token 数 S = 8，Head 维数 d = 4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 输入：Q[1×4]、K[8×4]、V[8×4]，均为 8-bit 有符号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 输出：O[1×4]，8-bit 有符号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微软雅黑"/>
                <a:ea typeface="微软雅黑"/>
              </a:rPr>
              <a:t>•  关键约束：中间结果必须用更宽位宽，不能截成 8-bit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82C04F-395B-AB59-702B-7D5192256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39" y="2479926"/>
            <a:ext cx="5192644" cy="382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0D80F0-2A62-C884-B093-FED59BA3FA22}"/>
              </a:ext>
            </a:extLst>
          </p:cNvPr>
          <p:cNvSpPr txBox="1"/>
          <p:nvPr/>
        </p:nvSpPr>
        <p:spPr>
          <a:xfrm>
            <a:off x="164592" y="4455399"/>
            <a:ext cx="6376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/>
              <a:t>右图为在项目进行初期，为了加快理解算法如何在</a:t>
            </a:r>
            <a:r>
              <a:rPr lang="en-US" altLang="zh-CN" dirty="0"/>
              <a:t>Verilog</a:t>
            </a:r>
          </a:p>
          <a:p>
            <a:r>
              <a:rPr lang="zh-CN" altLang="en-US" dirty="0"/>
              <a:t>中实现，用软件</a:t>
            </a:r>
            <a:r>
              <a:rPr lang="en-US" altLang="zh-CN" dirty="0"/>
              <a:t>Logisim</a:t>
            </a:r>
            <a:r>
              <a:rPr lang="zh-CN" altLang="en-US" dirty="0"/>
              <a:t>画的草图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算法：七步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1.  score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Q · K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Σ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k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Q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k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· K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j,k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   （d 项点积）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2.  x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max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max(score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)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3.  diff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score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− x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max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4.  weight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e^{diff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}    （Q0.4 定点，查表）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5.  L = Σ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weight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6.  ACC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Σ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weight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· V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j,i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7.  O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= round(ACC</a:t>
            </a:r>
            <a:r>
              <a:rPr sz="1300" b="0" i="0" baseline="-25000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900" b="0" i="0">
                <a:solidFill>
                  <a:srgbClr val="333333"/>
                </a:solidFill>
                <a:latin typeface="微软雅黑"/>
                <a:ea typeface="微软雅黑"/>
              </a:rPr>
              <a:t> / 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4B5"/>
                </a:solidFill>
                <a:latin typeface="微软雅黑"/>
                <a:ea typeface="微软雅黑"/>
              </a:rPr>
              <a:t>软件 golden model 与 RTL 完全按这七步实现，逐点对答案。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硬件架构：顶层接口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顶层共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14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个端口：Q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/K/V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分时复用三条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8-bit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数据线，q_valid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/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kv_valid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握手灌入，done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握手完成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760720" cy="2715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输入端口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位宽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clk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时钟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rst_n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复位（低电平有效）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start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启动一次计算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q_in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 元素（有符号）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k_in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 元素（有符号）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v_in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 元素（有符号）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q_valid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q_in 有效，连续 d 拍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kv_valid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k_in/v_in 有效，连续 S×d 拍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737360"/>
          <a:ext cx="5212080" cy="2112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输出端口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位宽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data_ready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数据就绪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out_data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输出 O 元素（有符号）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out_valid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out_data 有效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done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一次计算完成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state_now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当前状态（调试观测）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key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稀疏掩码（加分项 D）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C111565-7691-A665-11A2-2E14841F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11892"/>
            <a:ext cx="3511730" cy="17018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指数查表（LUT）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486817"/>
                  </p:ext>
                </p:extLst>
              </p:nvPr>
            </p:nvGraphicFramePr>
            <p:xfrm>
              <a:off x="546185" y="1314263"/>
              <a:ext cx="5214540" cy="146304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2826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diff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0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−1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−2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−3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≤−4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  <m:t>𝑑𝑖𝑓𝑓</m:t>
                                  </m:r>
                                </m:sup>
                              </m:sSup>
                            </m:oMath>
                          </a14:m>
                          <a:r>
                            <a:rPr sz="11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 </a:t>
                          </a: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0.3679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0.1353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</a:t>
                          </a:r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0498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-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</a:rPr>
                                    <m:t>𝑑𝑖𝑓𝑓</m:t>
                                  </m:r>
                                </m:sup>
                              </m:sSup>
                              <m:r>
                                <a:rPr lang="zh-CN" altLang="en-US" sz="1100" b="0" i="1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ea typeface="微软雅黑"/>
                                </a:rPr>
                                <m:t>（</m:t>
                              </m:r>
                            </m:oMath>
                          </a14:m>
                          <a:r>
                            <a:rPr lang="zh-CN" altLang="en-US" sz="11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二进制）</a:t>
                          </a:r>
                          <a:endParaRPr sz="11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0.0110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0.0010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0.0001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</a:t>
                          </a:r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Weight</a:t>
                          </a:r>
                          <a:r>
                            <a:rPr lang="zh-CN" alt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（</a:t>
                          </a:r>
                          <a:r>
                            <a:rPr lang="en-US" altLang="zh-CN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*16</a:t>
                          </a:r>
                          <a:r>
                            <a:rPr lang="zh-CN" alt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）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00110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00001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009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486817"/>
                  </p:ext>
                </p:extLst>
              </p:nvPr>
            </p:nvGraphicFramePr>
            <p:xfrm>
              <a:off x="546185" y="1314263"/>
              <a:ext cx="5214540" cy="146304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2826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8638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diff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0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−1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−2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−3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i="0" dirty="0">
                              <a:solidFill>
                                <a:srgbClr val="FFFFFF"/>
                              </a:solidFill>
                              <a:latin typeface="微软雅黑"/>
                              <a:ea typeface="微软雅黑"/>
                            </a:rPr>
                            <a:t>≤−4</a:t>
                          </a:r>
                        </a:p>
                      </a:txBody>
                      <a:tcPr marT="38100" marB="38100" anchor="ctr">
                        <a:solidFill>
                          <a:srgbClr val="2E74B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8100" marB="38100" anchor="ctr">
                        <a:blipFill>
                          <a:blip r:embed="rId2"/>
                          <a:stretch>
                            <a:fillRect l="-474" t="-100000" r="-30805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0.3679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0.1353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</a:t>
                          </a:r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0498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-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38100" marB="38100" anchor="ctr">
                        <a:blipFill>
                          <a:blip r:embed="rId2"/>
                          <a:stretch>
                            <a:fillRect l="-474" t="-203333" r="-308057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0.0110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0.0010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0.0001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</a:t>
                          </a:r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.0000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Weight</a:t>
                          </a:r>
                          <a:r>
                            <a:rPr lang="zh-CN" alt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（</a:t>
                          </a:r>
                          <a:r>
                            <a:rPr lang="en-US" altLang="zh-CN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*16</a:t>
                          </a:r>
                          <a:r>
                            <a:rPr lang="zh-CN" alt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）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10000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00110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00010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00001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b="0" i="0" dirty="0">
                              <a:solidFill>
                                <a:srgbClr val="333333"/>
                              </a:solidFill>
                              <a:latin typeface="微软雅黑"/>
                              <a:ea typeface="微软雅黑"/>
                            </a:rPr>
                            <a:t>00000</a:t>
                          </a:r>
                          <a:endParaRPr sz="1300" b="0" i="0" dirty="0">
                            <a:solidFill>
                              <a:srgbClr val="333333"/>
                            </a:solidFill>
                            <a:latin typeface="微软雅黑"/>
                            <a:ea typeface="微软雅黑"/>
                          </a:endParaRPr>
                        </a:p>
                      </a:txBody>
                      <a:tcPr marT="38100" marB="38100" anchor="ctr">
                        <a:solidFill>
                          <a:srgbClr val="EAF1F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009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548640" y="3200400"/>
            <a:ext cx="5212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sz="15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diff</a:t>
            </a:r>
            <a:r>
              <a:rPr sz="1000" b="0" i="0" baseline="-25000" dirty="0" err="1">
                <a:solidFill>
                  <a:srgbClr val="333333"/>
                </a:solidFill>
                <a:latin typeface="微软雅黑"/>
                <a:ea typeface="微软雅黑"/>
              </a:rPr>
              <a:t>j</a:t>
            </a:r>
            <a:r>
              <a:rPr sz="15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是整数</a:t>
            </a:r>
            <a:r>
              <a:rPr sz="1500" b="0" i="0" dirty="0">
                <a:solidFill>
                  <a:srgbClr val="333333"/>
                </a:solidFill>
                <a:latin typeface="微软雅黑"/>
                <a:ea typeface="微软雅黑"/>
              </a:rPr>
              <a:t> ⇒ </a:t>
            </a:r>
            <a:r>
              <a:rPr sz="15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只需</a:t>
            </a:r>
            <a:r>
              <a:rPr sz="1500" b="0" i="0" dirty="0">
                <a:solidFill>
                  <a:srgbClr val="333333"/>
                </a:solidFill>
                <a:latin typeface="微软雅黑"/>
                <a:ea typeface="微软雅黑"/>
              </a:rPr>
              <a:t> 5 档</a:t>
            </a:r>
          </a:p>
          <a:p>
            <a:pPr>
              <a:spcAft>
                <a:spcPts val="800"/>
              </a:spcAft>
            </a:pPr>
            <a:r>
              <a:rPr sz="1500" b="0" i="0" dirty="0">
                <a:solidFill>
                  <a:srgbClr val="333333"/>
                </a:solidFill>
                <a:latin typeface="微软雅黑"/>
                <a:ea typeface="微软雅黑"/>
              </a:rPr>
              <a:t>•  无需乘法器，5 </a:t>
            </a:r>
            <a:r>
              <a:rPr sz="15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行表完成指数</a:t>
            </a:r>
            <a:endParaRPr lang="en-US" sz="15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800"/>
              </a:spcAft>
            </a:pPr>
            <a:r>
              <a:rPr lang="en-US" altLang="zh-CN" sz="150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lang="en-US" altLang="zh-CN" sz="1500" dirty="0" err="1">
                <a:solidFill>
                  <a:srgbClr val="333333"/>
                </a:solidFill>
                <a:latin typeface="微软雅黑"/>
                <a:ea typeface="微软雅黑"/>
              </a:rPr>
              <a:t>verilog</a:t>
            </a:r>
            <a:r>
              <a:rPr lang="zh-CN" altLang="en-US" sz="1500" dirty="0">
                <a:solidFill>
                  <a:srgbClr val="333333"/>
                </a:solidFill>
                <a:latin typeface="微软雅黑"/>
                <a:ea typeface="微软雅黑"/>
              </a:rPr>
              <a:t>中无法存小数，故乘以</a:t>
            </a:r>
            <a:r>
              <a:rPr lang="en-US" altLang="zh-CN" sz="1500" dirty="0">
                <a:solidFill>
                  <a:srgbClr val="333333"/>
                </a:solidFill>
                <a:latin typeface="微软雅黑"/>
                <a:ea typeface="微软雅黑"/>
              </a:rPr>
              <a:t>16</a:t>
            </a:r>
            <a:r>
              <a:rPr lang="zh-CN" altLang="en-US" sz="1500" dirty="0">
                <a:solidFill>
                  <a:srgbClr val="333333"/>
                </a:solidFill>
                <a:latin typeface="微软雅黑"/>
                <a:ea typeface="微软雅黑"/>
              </a:rPr>
              <a:t>（</a:t>
            </a:r>
            <a:r>
              <a:rPr lang="en-US" altLang="zh-CN" sz="1500" dirty="0">
                <a:solidFill>
                  <a:srgbClr val="333333"/>
                </a:solidFill>
                <a:latin typeface="微软雅黑"/>
                <a:ea typeface="微软雅黑"/>
              </a:rPr>
              <a:t>2^4</a:t>
            </a:r>
            <a:r>
              <a:rPr lang="zh-CN" altLang="en-US" sz="1500" dirty="0">
                <a:solidFill>
                  <a:srgbClr val="333333"/>
                </a:solidFill>
                <a:latin typeface="微软雅黑"/>
                <a:ea typeface="微软雅黑"/>
              </a:rPr>
              <a:t>）用整数表示小数</a:t>
            </a:r>
          </a:p>
          <a:p>
            <a:pPr>
              <a:spcAft>
                <a:spcPts val="800"/>
              </a:spcAft>
            </a:pPr>
            <a:endParaRPr sz="1500" b="0" i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6567" y="5177977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diff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越负，e^diff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衰减越快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，≤−4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已舍入为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0。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F0E0BE7-123C-443D-32F3-7FC2CFF9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04" y="1066975"/>
            <a:ext cx="4496031" cy="5620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状态机（9 状态）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4B5"/>
                </a:solidFill>
                <a:latin typeface="微软雅黑"/>
                <a:ea typeface="微软雅黑"/>
              </a:rPr>
              <a:t>IDLE → LOAD_Q → LOAD_KV → DOT → MAX → EXP → UPDATE → NORM → OUTPUT → done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65340"/>
              </p:ext>
            </p:extLst>
          </p:nvPr>
        </p:nvGraphicFramePr>
        <p:xfrm>
          <a:off x="278616" y="1600200"/>
          <a:ext cx="4330204" cy="513812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251"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  <a:endParaRPr sz="13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跳转条件</a:t>
                      </a:r>
                    </a:p>
                  </a:txBody>
                  <a:tcPr marT="38100" marB="381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IDLE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等待启动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start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LOAD_Q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载入 Q（d 拍）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cnt_q = d−1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867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LOAD_KV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载入 K/V（S×d 拍）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cnt_kvi=d−1 且 cnt_kvj=S−1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DOT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点积得 score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cnt_sci=d−1 且 cnt_scj=S−1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求 x</a:t>
                      </a:r>
                      <a:r>
                        <a:rPr sz="1000" b="0" i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</a:t>
                      </a:r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与 diff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MAX_finish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EXP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查表得 weight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EXP_finish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UPDATE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累加 L 与 ACC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UPDATE_finish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NORM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归一化四舍五入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NORM_finish</a:t>
                      </a:r>
                    </a:p>
                  </a:txBody>
                  <a:tcPr marT="38100" marB="381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925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OUTPUT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逐拍输出，置 done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cnt_out</a:t>
                      </a:r>
                      <a:r>
                        <a:rPr sz="1300" b="0" i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= d−1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B19B2DC-D320-989E-8023-03C5C13F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299" y="1600200"/>
            <a:ext cx="4139834" cy="51381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EF5B52-C87C-9D4A-83B1-3DC308AED513}"/>
              </a:ext>
            </a:extLst>
          </p:cNvPr>
          <p:cNvSpPr txBox="1"/>
          <p:nvPr/>
        </p:nvSpPr>
        <p:spPr>
          <a:xfrm>
            <a:off x="9271427" y="1598414"/>
            <a:ext cx="26729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删去了参考时序中的</a:t>
            </a:r>
            <a:r>
              <a:rPr lang="en-US" altLang="zh-CN" dirty="0"/>
              <a:t>next</a:t>
            </a:r>
          </a:p>
          <a:p>
            <a:r>
              <a:rPr lang="zh-CN" altLang="en-US" dirty="0"/>
              <a:t>模块，理由在后面</a:t>
            </a:r>
            <a:r>
              <a:rPr lang="en-US" altLang="zh-CN" dirty="0"/>
              <a:t>ppt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有讲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位宽推导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0276" y="6013962"/>
            <a:ext cx="10972800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规则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①：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乘法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N×M 得 (N+M) bit</a:t>
            </a:r>
          </a:p>
          <a:p>
            <a:pPr>
              <a:spcAft>
                <a:spcPts val="5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规则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②：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累加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K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项，在单次位宽上加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⌈log</a:t>
            </a:r>
            <a:r>
              <a:rPr sz="1200" b="0" i="0" baseline="-25000" dirty="0">
                <a:solidFill>
                  <a:srgbClr val="333333"/>
                </a:solidFill>
                <a:latin typeface="微软雅黑"/>
                <a:ea typeface="微软雅黑"/>
              </a:rPr>
              <a:t>2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K⌉ bit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374A0BE-2B1E-5AF9-98F6-54AB81DD7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1" y="1802154"/>
            <a:ext cx="3029106" cy="17590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B4BA4D4-AECA-8F4B-9E87-2E0E3C1F9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51" y="1325880"/>
            <a:ext cx="1587582" cy="47627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23360" y="1325880"/>
          <a:ext cx="7680960" cy="2123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token 数（可配）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head 维度（可配）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数据位宽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Sw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⌈log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S⌉ = 3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 计数器位宽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⌈log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d⌉ = 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 计数器位宽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SCORE_W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2W = 16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单次 q×k 乘积位宽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SCOREREG_W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2W + dw = 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 项点积累加位宽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L_W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⌈log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(S·16+1)⌉ = 8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 = Σweight 位宽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ACC_W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 + W = 14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单次 weight×V 位宽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ACCREG_W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ACC_W + Sw = 17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 项累加位宽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023360" y="3611880"/>
          <a:ext cx="768096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信号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位宽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深度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T="12700" marB="127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q_reg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d=4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 的 d 个元素（W）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k_reg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 (=d×W)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K 矩阵，每 token 打包 d 维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v_reg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 (=d×W)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V 矩阵，每 token 打包 d 维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单次 q×k 乘积（SCORE_W=2W）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score_reg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score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，d 项点积累加（SCOREREG_W=2W+dw）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max_0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x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寄存器（SCOREREG_W）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weight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weight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=e^{diff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} 的 Q0.4（1整数位+4小数位）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max_weight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weight 的最大值，稀疏阈值用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Σ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weight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（L_W=⌈log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(S·16+1)⌉）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56 (=d×ACC_W)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 token 的 d 路 weight×V 累加（ACC_W=6+W）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ACC_reg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68 (=d×ACCREG_W)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 路最终 ACC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，对 S 个 token 求和（ACCREG_W=ACC_W+Sw）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d=4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输出 O</a:t>
                      </a:r>
                      <a:r>
                        <a:rPr sz="800" b="0" baseline="-25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（与 V 同数据位宽 W）</a:t>
                      </a:r>
                    </a:p>
                  </a:txBody>
                  <a:tcPr marT="12700" marB="127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5051FC2-80DF-B7EF-AFD7-50BDA5F71EED}"/>
              </a:ext>
            </a:extLst>
          </p:cNvPr>
          <p:cNvSpPr txBox="1"/>
          <p:nvPr/>
        </p:nvSpPr>
        <p:spPr>
          <a:xfrm>
            <a:off x="290276" y="3798541"/>
            <a:ext cx="37540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注意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  <a:r>
              <a:rPr lang="en-US" altLang="zh-CN" dirty="0" err="1">
                <a:solidFill>
                  <a:schemeClr val="tx2"/>
                </a:solidFill>
              </a:rPr>
              <a:t>k_reg,v_reg</a:t>
            </a:r>
            <a:r>
              <a:rPr lang="zh-CN" altLang="en-US" dirty="0">
                <a:solidFill>
                  <a:schemeClr val="tx2"/>
                </a:solidFill>
              </a:rPr>
              <a:t>在我这个代码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里面是</a:t>
            </a:r>
            <a:r>
              <a:rPr lang="en-US" altLang="zh-CN" dirty="0">
                <a:solidFill>
                  <a:schemeClr val="tx2"/>
                </a:solidFill>
              </a:rPr>
              <a:t>32</a:t>
            </a:r>
            <a:r>
              <a:rPr lang="zh-CN" altLang="en-US" dirty="0">
                <a:solidFill>
                  <a:schemeClr val="tx2"/>
                </a:solidFill>
              </a:rPr>
              <a:t>位位宽，即将</a:t>
            </a:r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zh-CN" altLang="en-US" dirty="0">
                <a:solidFill>
                  <a:schemeClr val="tx2"/>
                </a:solidFill>
              </a:rPr>
              <a:t>维度的</a:t>
            </a:r>
            <a:r>
              <a:rPr lang="en-US" altLang="zh-CN" dirty="0">
                <a:solidFill>
                  <a:schemeClr val="tx2"/>
                </a:solidFill>
              </a:rPr>
              <a:t>8</a:t>
            </a:r>
          </a:p>
          <a:p>
            <a:r>
              <a:rPr lang="zh-CN" altLang="en-US" dirty="0">
                <a:solidFill>
                  <a:schemeClr val="tx2"/>
                </a:solidFill>
              </a:rPr>
              <a:t>位输入合并成一个</a:t>
            </a:r>
            <a:r>
              <a:rPr lang="en-US" altLang="zh-CN" dirty="0">
                <a:solidFill>
                  <a:schemeClr val="tx2"/>
                </a:solidFill>
              </a:rPr>
              <a:t>32</a:t>
            </a:r>
            <a:r>
              <a:rPr lang="zh-CN" altLang="en-US" dirty="0">
                <a:solidFill>
                  <a:schemeClr val="tx2"/>
                </a:solidFill>
              </a:rPr>
              <a:t>位的数字存进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en-US" altLang="zh-CN" dirty="0">
                <a:solidFill>
                  <a:schemeClr val="tx2"/>
                </a:solidFill>
              </a:rPr>
              <a:t>memory</a:t>
            </a:r>
            <a:r>
              <a:rPr lang="zh-CN" altLang="en-US" dirty="0">
                <a:solidFill>
                  <a:schemeClr val="tx2"/>
                </a:solidFill>
              </a:rPr>
              <a:t>寄存器</a:t>
            </a:r>
            <a:r>
              <a:rPr lang="en-US" altLang="zh-CN" dirty="0" err="1">
                <a:solidFill>
                  <a:schemeClr val="tx2"/>
                </a:solidFill>
              </a:rPr>
              <a:t>k_reg,v_reg</a:t>
            </a:r>
            <a:r>
              <a:rPr lang="zh-CN" altLang="en-US" dirty="0">
                <a:solidFill>
                  <a:schemeClr val="tx2"/>
                </a:solidFill>
              </a:rPr>
              <a:t>。用</a:t>
            </a:r>
            <a:r>
              <a:rPr lang="en-US" altLang="zh-CN" dirty="0" err="1">
                <a:solidFill>
                  <a:schemeClr val="tx2"/>
                </a:solidFill>
              </a:rPr>
              <a:t>k_reg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en-US" altLang="zh-CN" dirty="0">
                <a:solidFill>
                  <a:schemeClr val="tx2"/>
                </a:solidFill>
              </a:rPr>
              <a:t>[</a:t>
            </a:r>
            <a:r>
              <a:rPr lang="en-US" altLang="zh-CN" dirty="0" err="1">
                <a:solidFill>
                  <a:schemeClr val="tx2"/>
                </a:solidFill>
              </a:rPr>
              <a:t>i</a:t>
            </a:r>
            <a:r>
              <a:rPr lang="en-US" altLang="zh-CN" dirty="0">
                <a:solidFill>
                  <a:schemeClr val="tx2"/>
                </a:solidFill>
              </a:rPr>
              <a:t>][31:0]</a:t>
            </a:r>
            <a:r>
              <a:rPr lang="zh-CN" altLang="en-US" dirty="0">
                <a:solidFill>
                  <a:schemeClr val="tx2"/>
                </a:solidFill>
              </a:rPr>
              <a:t>来表示</a:t>
            </a:r>
            <a:r>
              <a:rPr lang="en-US" altLang="zh-CN" dirty="0">
                <a:solidFill>
                  <a:schemeClr val="tx2"/>
                </a:solidFill>
              </a:rPr>
              <a:t>k1,k2…</a:t>
            </a:r>
            <a:r>
              <a:rPr lang="zh-CN" altLang="en-US" dirty="0">
                <a:solidFill>
                  <a:schemeClr val="tx2"/>
                </a:solidFill>
              </a:rPr>
              <a:t>下面的</a:t>
            </a:r>
            <a:r>
              <a:rPr lang="en-US" altLang="zh-CN" dirty="0">
                <a:solidFill>
                  <a:schemeClr val="tx2"/>
                </a:solidFill>
              </a:rPr>
              <a:t>ACC,</a:t>
            </a:r>
          </a:p>
          <a:p>
            <a:r>
              <a:rPr lang="en-US" altLang="zh-CN" dirty="0" err="1">
                <a:solidFill>
                  <a:schemeClr val="tx2"/>
                </a:solidFill>
              </a:rPr>
              <a:t>ACC_reg</a:t>
            </a:r>
            <a:r>
              <a:rPr lang="zh-CN" altLang="en-US" dirty="0">
                <a:solidFill>
                  <a:schemeClr val="tx2"/>
                </a:solidFill>
              </a:rPr>
              <a:t>同理用这个方法存。这个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zh-CN" altLang="en-US" dirty="0">
                <a:solidFill>
                  <a:schemeClr val="tx2"/>
                </a:solidFill>
              </a:rPr>
              <a:t>也是我得以删除</a:t>
            </a:r>
            <a:r>
              <a:rPr lang="en-US" altLang="zh-CN" dirty="0">
                <a:solidFill>
                  <a:schemeClr val="tx2"/>
                </a:solidFill>
              </a:rPr>
              <a:t>NEXT</a:t>
            </a:r>
            <a:r>
              <a:rPr lang="zh-CN" altLang="en-US" dirty="0">
                <a:solidFill>
                  <a:schemeClr val="tx2"/>
                </a:solidFill>
              </a:rPr>
              <a:t>的原因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关键模块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•  UPDATE（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分为两个周期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•  第 1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拍：算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L 与</a:t>
            </a:r>
            <a:r>
              <a:rPr lang="en-US"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lang="en-US" altLang="zh-CN"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d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个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weight×V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得出结果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进 ACC[j]</a:t>
            </a:r>
          </a:p>
          <a:p>
            <a:pPr>
              <a:spcAft>
                <a:spcPts val="800"/>
              </a:spcAft>
            </a:pP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•  第 2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拍：把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S 个 ACC[j] 按</a:t>
            </a:r>
            <a:r>
              <a:rPr lang="zh-CN" altLang="en-US"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累加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求和进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ACC_reg</a:t>
            </a:r>
            <a:endParaRPr sz="17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800"/>
              </a:spcAft>
            </a:pP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两拍分开，避免同一周期读旧写新</a:t>
            </a:r>
            <a:endParaRPr sz="17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800"/>
              </a:spcAft>
            </a:pPr>
            <a:endParaRPr sz="17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800"/>
              </a:spcAft>
            </a:pP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NORM（按符号四舍五入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  <a:p>
            <a:pPr>
              <a:spcAft>
                <a:spcPts val="800"/>
              </a:spcAft>
            </a:pPr>
            <a:r>
              <a:rPr lang="zh-CN" altLang="en-US" sz="1700" dirty="0">
                <a:solidFill>
                  <a:srgbClr val="333333"/>
                </a:solidFill>
                <a:latin typeface="微软雅黑"/>
                <a:ea typeface="微软雅黑"/>
              </a:rPr>
              <a:t>用网上搜索得到的除法可四舍五入方案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O</a:t>
            </a:r>
            <a:r>
              <a:rPr sz="1200" b="0" i="0" baseline="-25000" dirty="0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= ( 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ACC</a:t>
            </a:r>
            <a:r>
              <a:rPr sz="1200" b="0" i="0" baseline="-25000" dirty="0" err="1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 + sign(</a:t>
            </a:r>
            <a:r>
              <a:rPr sz="17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ACC</a:t>
            </a:r>
            <a:r>
              <a:rPr sz="1200" b="0" i="0" baseline="-25000" dirty="0" err="1">
                <a:solidFill>
                  <a:srgbClr val="333333"/>
                </a:solidFill>
                <a:latin typeface="微软雅黑"/>
                <a:ea typeface="微软雅黑"/>
              </a:rPr>
              <a:t>i</a:t>
            </a:r>
            <a:r>
              <a:rPr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) · ⌊L/2⌋ ) / L</a:t>
            </a:r>
            <a:r>
              <a:rPr lang="zh-CN" altLang="en-US" sz="1700" b="0" i="0" dirty="0">
                <a:solidFill>
                  <a:srgbClr val="333333"/>
                </a:solidFill>
                <a:latin typeface="微软雅黑"/>
                <a:ea typeface="微软雅黑"/>
              </a:rPr>
              <a:t>，右图为实现的代码</a:t>
            </a:r>
            <a:endParaRPr sz="1700" b="0" i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8829" y="4703330"/>
            <a:ext cx="53949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L &gt;&gt;&gt; 1 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得到</a:t>
            </a:r>
            <a:r>
              <a:rPr sz="1500" b="0" i="0" dirty="0">
                <a:solidFill>
                  <a:srgbClr val="595959"/>
                </a:solidFill>
                <a:latin typeface="微软雅黑"/>
                <a:ea typeface="微软雅黑"/>
              </a:rPr>
              <a:t> ⌊L/2⌋，</a:t>
            </a:r>
            <a:r>
              <a:rPr sz="1500" b="0" i="0" dirty="0" err="1">
                <a:solidFill>
                  <a:srgbClr val="595959"/>
                </a:solidFill>
                <a:latin typeface="微软雅黑"/>
                <a:ea typeface="微软雅黑"/>
              </a:rPr>
              <a:t>按符号加减后整除即四舍五入</a:t>
            </a:r>
            <a:endParaRPr lang="en-US" sz="1500" b="0" i="0" dirty="0">
              <a:solidFill>
                <a:srgbClr val="595959"/>
              </a:solidFill>
              <a:latin typeface="微软雅黑"/>
              <a:ea typeface="微软雅黑"/>
            </a:endParaRPr>
          </a:p>
          <a:p>
            <a:r>
              <a:rPr lang="zh-CN" altLang="en-US" sz="1500" dirty="0">
                <a:solidFill>
                  <a:srgbClr val="595959"/>
                </a:solidFill>
                <a:latin typeface="微软雅黑"/>
                <a:ea typeface="微软雅黑"/>
              </a:rPr>
              <a:t>需要注意，需加个正负号判断</a:t>
            </a:r>
            <a:r>
              <a:rPr lang="en-US" altLang="zh-CN" sz="1500" dirty="0">
                <a:solidFill>
                  <a:srgbClr val="595959"/>
                </a:solidFill>
                <a:latin typeface="微软雅黑"/>
                <a:ea typeface="微软雅黑"/>
              </a:rPr>
              <a:t>ACC</a:t>
            </a:r>
            <a:r>
              <a:rPr lang="zh-CN" altLang="en-US" sz="1500" dirty="0">
                <a:solidFill>
                  <a:srgbClr val="595959"/>
                </a:solidFill>
                <a:latin typeface="微软雅黑"/>
                <a:ea typeface="微软雅黑"/>
              </a:rPr>
              <a:t>的正负，不然会出现在负数情况下向较大的数字取四舍五入的情况（</a:t>
            </a:r>
            <a:r>
              <a:rPr lang="en-US" altLang="zh-CN" sz="1500" dirty="0">
                <a:solidFill>
                  <a:srgbClr val="595959"/>
                </a:solidFill>
                <a:latin typeface="微软雅黑"/>
                <a:ea typeface="微软雅黑"/>
              </a:rPr>
              <a:t>-0.5-&gt;0</a:t>
            </a:r>
            <a:r>
              <a:rPr lang="zh-CN" altLang="en-US" sz="1500" dirty="0">
                <a:solidFill>
                  <a:srgbClr val="595959"/>
                </a:solidFill>
                <a:latin typeface="微软雅黑"/>
                <a:ea typeface="微软雅黑"/>
              </a:rPr>
              <a:t>）</a:t>
            </a:r>
            <a:endParaRPr sz="1500" b="0" i="0" dirty="0">
              <a:solidFill>
                <a:srgbClr val="595959"/>
              </a:solidFill>
              <a:latin typeface="微软雅黑"/>
              <a:ea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6D9D5F-59C3-E215-AD9A-F67F02DB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371600"/>
            <a:ext cx="5719432" cy="4414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周期与时序（S=8, d=4）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132320" cy="32918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周期数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LOAD_Q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载入 Q（d=4 拍）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LOAD_KV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载入 K/V（S×d=32 拍）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DOT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 个 score，每个 4 项点积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MAX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求 x_max 与 diff，一拍寄存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EXP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查表得 weight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UPDATE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两段式累加 L 与 ACC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NORM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除法与四舍五入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OUTPUT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逐拍输出 O（d=4）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纯数据通路延迟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046720" y="1371600"/>
            <a:ext cx="3657600" cy="3108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/>
            <a:r>
              <a:rPr sz="1500" b="0">
                <a:solidFill>
                  <a:srgbClr val="BDD7EE"/>
                </a:solidFill>
                <a:latin typeface="微软雅黑"/>
                <a:ea typeface="微软雅黑"/>
              </a:rPr>
              <a:t>一次完整计算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835 ns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80 周期 × 10 ns = 800 ns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+ 复位/启动握手 ≈ 35 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加分项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309360" cy="285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C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参数化：S、d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可配，位宽由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localparam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推导</a:t>
            </a:r>
            <a:endParaRPr sz="18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D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稀疏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Attention：动态阈值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max_weight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&gt;&gt; 1，输出 S 位 key </a:t>
            </a:r>
            <a:r>
              <a:rPr lang="zh-CN" altLang="en-US"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  <a:r>
              <a:rPr lang="en-US" altLang="zh-CN"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key</a:t>
            </a:r>
            <a:r>
              <a:rPr lang="zh-CN" altLang="en-US"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功能实现模块如右图</a:t>
            </a:r>
            <a:endParaRPr sz="18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E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指数方法综述：LUT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分段线性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多项式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 / CORDIC /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范围缩减</a:t>
            </a:r>
            <a:endParaRPr sz="18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•  G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规模分析</a:t>
            </a:r>
            <a:r>
              <a:rPr sz="1800" b="0" i="0" dirty="0">
                <a:solidFill>
                  <a:srgbClr val="333333"/>
                </a:solidFill>
                <a:latin typeface="微软雅黑"/>
                <a:ea typeface="微软雅黑"/>
              </a:rPr>
              <a:t>：[256,64] </a:t>
            </a:r>
            <a:r>
              <a:rPr sz="18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下存储、位宽、MAC、稀疏加速</a:t>
            </a:r>
            <a:endParaRPr lang="en-US" sz="18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微软雅黑"/>
                <a:ea typeface="微软雅黑"/>
              </a:rPr>
              <a:t>E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与</a:t>
            </a:r>
            <a:r>
              <a:rPr lang="en-US" altLang="zh-CN" dirty="0">
                <a:solidFill>
                  <a:srgbClr val="333333"/>
                </a:solidFill>
                <a:latin typeface="微软雅黑"/>
                <a:ea typeface="微软雅黑"/>
              </a:rPr>
              <a:t>G</a:t>
            </a:r>
            <a:r>
              <a:rPr lang="zh-CN" altLang="en-US" dirty="0">
                <a:solidFill>
                  <a:srgbClr val="333333"/>
                </a:solidFill>
                <a:latin typeface="微软雅黑"/>
                <a:ea typeface="微软雅黑"/>
              </a:rPr>
              <a:t>均呈现在设计报告中）</a:t>
            </a:r>
            <a:endParaRPr lang="en-US" sz="1800" b="0" i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19CDF4-2409-5477-12B3-F0F4BA27F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514" y="1294976"/>
            <a:ext cx="3883813" cy="47674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仿真结果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4B5"/>
                </a:solidFill>
                <a:latin typeface="微软雅黑"/>
                <a:ea typeface="微软雅黑"/>
              </a:rPr>
              <a:t>6 组用例 out_data 均与 golden 一致，done 正确拉高。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371600"/>
          <a:ext cx="996696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用例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输入 Q / K / V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期望 O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key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T="25400" marB="25400"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正数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S=8,d=4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Q=[1,0,0,0]；K第一列0~7；V全[1,2,3,4]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[1,2,3,4]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——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负数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S=8,d=4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Q=[1,0,0,0]；K第一列5,4,3,2,1,0,−1,−2；V0=[−2,−1,1,2]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[−1,0,1,2]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0000_0001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参数化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S=10,d=5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Q=[1,0,0,0,0]；K第一列0~9；V全[1,2,3,4,5]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[1,2,3,4,5]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0x200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 负0.5边界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S=10,d=5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Q=[1,0,0,0,0]；K前2token=[5,0,0,0,0]；V0=[−1,−1,−1,−1,−1]、V1=[0,0,−2,−2,−4]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[−1,−1,−2,−2,−3]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0x3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 全同L=128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S=8,d=4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Q=[1,0,0,0]；K全0；V全[1,2,3,4]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[1,2,3,4]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0xFF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 大score稀疏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S=8,d=4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Q=[100,65,−12,−87]；V[2]=[11,24,−43,4]（K构造大score差）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[11,24,−43,4]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0x04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marT="25400" marB="25400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仿真波形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7A6EF7-59CC-C198-1666-829AFF64E76D}"/>
              </a:ext>
            </a:extLst>
          </p:cNvPr>
          <p:cNvSpPr txBox="1"/>
          <p:nvPr/>
        </p:nvSpPr>
        <p:spPr>
          <a:xfrm>
            <a:off x="164592" y="1251930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展示例</a:t>
            </a:r>
            <a:r>
              <a:rPr lang="en-US" altLang="zh-CN" dirty="0"/>
              <a:t>4</a:t>
            </a:r>
            <a:r>
              <a:rPr lang="zh-CN" altLang="en-US" dirty="0"/>
              <a:t>的波形：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7AF56F-EDEA-4080-519F-0C2614BB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621262"/>
            <a:ext cx="12192000" cy="10421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D97591B-E4C5-109C-D2F1-691A73D4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3420"/>
            <a:ext cx="12192000" cy="9815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25283BD-7E28-C67B-F187-83E3236EB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3645005"/>
            <a:ext cx="12192000" cy="104215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DFB2E3-108B-7D1A-3237-A46801D17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" y="4711556"/>
            <a:ext cx="12192000" cy="104215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F79DECE-7C8B-B5A4-8A7A-648A816C2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778107"/>
            <a:ext cx="12192000" cy="10421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146304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已知问题与改进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除法可综合化：NORM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的 /（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除数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L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变量）不可综合，需换倒数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LUT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或定点除法器</a:t>
            </a:r>
            <a:endParaRPr sz="19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•  L=128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溢出：L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最大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S×16=128，已扩 9-bit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并用用例</a:t>
            </a:r>
            <a:r>
              <a:rPr sz="1900" b="0" i="0" dirty="0">
                <a:solidFill>
                  <a:srgbClr val="333333"/>
                </a:solidFill>
                <a:latin typeface="微软雅黑"/>
                <a:ea typeface="微软雅黑"/>
              </a:rPr>
              <a:t> 5 </a:t>
            </a:r>
            <a:r>
              <a:rPr sz="1900" b="0" i="0" dirty="0" err="1">
                <a:solidFill>
                  <a:srgbClr val="333333"/>
                </a:solidFill>
                <a:latin typeface="微软雅黑"/>
                <a:ea typeface="微软雅黑"/>
              </a:rPr>
              <a:t>验证</a:t>
            </a:r>
            <a:endParaRPr sz="1900" b="0" i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由于状态机需要将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state_next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赋给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state_now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，这个过程需要一拍，而在状态</a:t>
            </a: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MAX,UPDATE,NORM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中由于给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state_next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赋值下一个状态的时间不合理性，导致周期慢了一拍（在这一拍中</a:t>
            </a: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RLT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没有做任何事情），属于无效拍，需要改正</a:t>
            </a:r>
            <a:endParaRPr lang="en-US" altLang="zh-CN" sz="19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1600"/>
              </a:spcAft>
            </a:pP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•  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qkv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输入用</a:t>
            </a: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$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readmemh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函数，但是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S,d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的修改还是在代码上面改，可对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S,d</a:t>
            </a:r>
            <a:r>
              <a:rPr lang="zh-CN" altLang="en-US" sz="1900" dirty="0">
                <a:solidFill>
                  <a:srgbClr val="333333"/>
                </a:solidFill>
                <a:latin typeface="微软雅黑"/>
                <a:ea typeface="微软雅黑"/>
              </a:rPr>
              <a:t>也用</a:t>
            </a:r>
            <a:r>
              <a:rPr lang="en-US" altLang="zh-CN" sz="1900" dirty="0">
                <a:solidFill>
                  <a:srgbClr val="333333"/>
                </a:solidFill>
                <a:latin typeface="微软雅黑"/>
                <a:ea typeface="微软雅黑"/>
              </a:rPr>
              <a:t>$</a:t>
            </a:r>
            <a:r>
              <a:rPr lang="en-US" altLang="zh-CN" sz="1900" dirty="0" err="1">
                <a:solidFill>
                  <a:srgbClr val="333333"/>
                </a:solidFill>
                <a:latin typeface="微软雅黑"/>
                <a:ea typeface="微软雅黑"/>
              </a:rPr>
              <a:t>readmmh</a:t>
            </a:r>
            <a:r>
              <a:rPr lang="zh-CN" altLang="en-US" sz="1900">
                <a:solidFill>
                  <a:srgbClr val="333333"/>
                </a:solidFill>
                <a:latin typeface="微软雅黑"/>
                <a:ea typeface="微软雅黑"/>
              </a:rPr>
              <a:t>函数输入</a:t>
            </a:r>
            <a:endParaRPr sz="1900" b="0" i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6632" y="2799658"/>
            <a:ext cx="11928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 err="1">
                <a:solidFill>
                  <a:srgbClr val="1F4E79"/>
                </a:solidFill>
                <a:latin typeface="微软雅黑"/>
                <a:ea typeface="微软雅黑"/>
              </a:rPr>
              <a:t>谢谢</a:t>
            </a:r>
            <a:r>
              <a:rPr sz="4000" b="1" i="0" dirty="0">
                <a:solidFill>
                  <a:srgbClr val="1F4E79"/>
                </a:solidFill>
                <a:latin typeface="微软雅黑"/>
                <a:ea typeface="微软雅黑"/>
              </a:rPr>
              <a:t>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1829</Words>
  <Application>Microsoft Office PowerPoint</Application>
  <PresentationFormat>宽屏</PresentationFormat>
  <Paragraphs>332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微软雅黑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梓龙 叶</cp:lastModifiedBy>
  <cp:revision>8</cp:revision>
  <dcterms:created xsi:type="dcterms:W3CDTF">2013-01-27T09:14:16Z</dcterms:created>
  <dcterms:modified xsi:type="dcterms:W3CDTF">2026-10-12T09:29:04Z</dcterms:modified>
  <cp:category/>
</cp:coreProperties>
</file>